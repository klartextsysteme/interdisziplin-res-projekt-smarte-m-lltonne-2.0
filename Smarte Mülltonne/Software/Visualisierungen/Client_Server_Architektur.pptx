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AD47"/>
    <a:srgbClr val="2C75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19"/>
    <p:restoredTop sz="94610"/>
  </p:normalViewPr>
  <p:slideViewPr>
    <p:cSldViewPr snapToGrid="0" snapToObjects="1">
      <p:cViewPr>
        <p:scale>
          <a:sx n="160" d="100"/>
          <a:sy n="160" d="100"/>
        </p:scale>
        <p:origin x="-600" y="1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640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82880" y="64008"/>
            <a:ext cx="1179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Blockschaltbild: Client-Server-Architektur – Smarte Mülltonne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98668" y="560265"/>
            <a:ext cx="4193312" cy="5563404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698668" y="560265"/>
            <a:ext cx="4193312" cy="431787"/>
          </a:xfrm>
          <a:prstGeom prst="roundRect">
            <a:avLst>
              <a:gd name="adj" fmla="val 15385"/>
            </a:avLst>
          </a:prstGeom>
          <a:solidFill>
            <a:srgbClr val="2E75B6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698668" y="850891"/>
            <a:ext cx="4193312" cy="141161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698668" y="593479"/>
            <a:ext cx="4193312" cy="23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– Raspberry Pi Pico 2 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8668" y="825980"/>
            <a:ext cx="4193312" cy="149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(MicroPython · GlobalController · State Machine)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3222" y="1075087"/>
            <a:ext cx="1893218" cy="1660718"/>
          </a:xfrm>
          <a:prstGeom prst="roundRect">
            <a:avLst>
              <a:gd name="adj" fmla="val 2500"/>
            </a:avLst>
          </a:prstGeom>
          <a:solidFill>
            <a:srgbClr val="EBF3FB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823222" y="1124909"/>
            <a:ext cx="1893218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Sensorik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06258" y="1340802"/>
            <a:ext cx="1727146" cy="348751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906258" y="1390624"/>
            <a:ext cx="1727146" cy="249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 KY-033 Liniensensoren (IR)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06258" y="1772589"/>
            <a:ext cx="1727146" cy="348751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906258" y="1822410"/>
            <a:ext cx="1727146" cy="249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HC-SR04P Ultraschall (Front)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06258" y="2204375"/>
            <a:ext cx="1727146" cy="348751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906258" y="2254197"/>
            <a:ext cx="1727146" cy="249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HC-SR04P Ultraschall (Deckel)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3222" y="2571345"/>
            <a:ext cx="1893218" cy="149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GPIO-Eingänge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882512" y="1075087"/>
            <a:ext cx="1893218" cy="1660718"/>
          </a:xfrm>
          <a:prstGeom prst="roundRect">
            <a:avLst>
              <a:gd name="adj" fmla="val 2500"/>
            </a:avLst>
          </a:prstGeom>
          <a:solidFill>
            <a:srgbClr val="EBF3FB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2882512" y="1124909"/>
            <a:ext cx="1893218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65547" y="1340802"/>
            <a:ext cx="1727146" cy="348751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2965547" y="1390624"/>
            <a:ext cx="1727146" cy="249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RGB-LED (Status)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965547" y="1772589"/>
            <a:ext cx="1727146" cy="348751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2965547" y="1822410"/>
            <a:ext cx="1727146" cy="249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Buzzer (Akustik)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965547" y="2204375"/>
            <a:ext cx="1727146" cy="348751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2965547" y="2254197"/>
            <a:ext cx="1727146" cy="249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Start-Taster (grün) / Stopp (rot)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882512" y="2571345"/>
            <a:ext cx="1893218" cy="149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GPIO-Eingänge / -Ausgänge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23222" y="2901877"/>
            <a:ext cx="3944204" cy="1013038"/>
          </a:xfrm>
          <a:prstGeom prst="roundRect">
            <a:avLst>
              <a:gd name="adj" fmla="val 4098"/>
            </a:avLst>
          </a:prstGeom>
          <a:solidFill>
            <a:srgbClr val="D6E8F7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823222" y="2951698"/>
            <a:ext cx="3944204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GlobalController (State Machine)</a:t>
            </a:r>
            <a:endParaRPr lang="en-US" sz="1050" dirty="0"/>
          </a:p>
        </p:txBody>
      </p:sp>
      <p:grpSp>
        <p:nvGrpSpPr>
          <p:cNvPr id="135" name="Gruppieren 134">
            <a:extLst>
              <a:ext uri="{FF2B5EF4-FFF2-40B4-BE49-F238E27FC236}">
                <a16:creationId xmlns:a16="http://schemas.microsoft.com/office/drawing/2014/main" id="{8541A907-C0A5-61F3-28DA-D4207D739B02}"/>
              </a:ext>
            </a:extLst>
          </p:cNvPr>
          <p:cNvGrpSpPr/>
          <p:nvPr/>
        </p:nvGrpSpPr>
        <p:grpSpPr>
          <a:xfrm>
            <a:off x="1263312" y="3239461"/>
            <a:ext cx="3238399" cy="531429"/>
            <a:chOff x="906258" y="3167592"/>
            <a:chExt cx="3238399" cy="531429"/>
          </a:xfrm>
        </p:grpSpPr>
        <p:sp>
          <p:nvSpPr>
            <p:cNvPr id="29" name="Shape 27"/>
            <p:cNvSpPr/>
            <p:nvPr/>
          </p:nvSpPr>
          <p:spPr>
            <a:xfrm>
              <a:off x="906258" y="3167592"/>
              <a:ext cx="913395" cy="232500"/>
            </a:xfrm>
            <a:prstGeom prst="roundRect">
              <a:avLst>
                <a:gd name="adj" fmla="val 14286"/>
              </a:avLst>
            </a:prstGeom>
            <a:solidFill>
              <a:srgbClr val="2E75B6"/>
            </a:solidFill>
            <a:ln w="1524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Text 28"/>
            <p:cNvSpPr/>
            <p:nvPr/>
          </p:nvSpPr>
          <p:spPr>
            <a:xfrm>
              <a:off x="906258" y="3200806"/>
              <a:ext cx="913395" cy="16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STANDBY</a:t>
              </a:r>
              <a:endParaRPr lang="en-US" sz="8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1902688" y="3167592"/>
              <a:ext cx="1245538" cy="232500"/>
            </a:xfrm>
            <a:prstGeom prst="roundRect">
              <a:avLst>
                <a:gd name="adj" fmla="val 14286"/>
              </a:avLst>
            </a:prstGeom>
            <a:solidFill>
              <a:srgbClr val="2E75B6"/>
            </a:solidFill>
            <a:ln w="1524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Text 30"/>
            <p:cNvSpPr/>
            <p:nvPr/>
          </p:nvSpPr>
          <p:spPr>
            <a:xfrm>
              <a:off x="1902688" y="3200806"/>
              <a:ext cx="1245538" cy="16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LINE_FOLLOWING</a:t>
              </a:r>
              <a:endParaRPr lang="en-US" sz="8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3231262" y="3167592"/>
              <a:ext cx="913395" cy="232500"/>
            </a:xfrm>
            <a:prstGeom prst="roundRect">
              <a:avLst>
                <a:gd name="adj" fmla="val 14286"/>
              </a:avLst>
            </a:prstGeom>
            <a:solidFill>
              <a:srgbClr val="2E75B6"/>
            </a:solidFill>
            <a:ln w="15240">
              <a:solidFill>
                <a:srgbClr val="2E75B6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Text 32"/>
            <p:cNvSpPr/>
            <p:nvPr/>
          </p:nvSpPr>
          <p:spPr>
            <a:xfrm>
              <a:off x="3231262" y="3200806"/>
              <a:ext cx="913395" cy="16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OBSTACLE</a:t>
              </a:r>
              <a:endParaRPr lang="en-US" sz="8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906258" y="3466521"/>
              <a:ext cx="913395" cy="232500"/>
            </a:xfrm>
            <a:prstGeom prst="roundRect">
              <a:avLst>
                <a:gd name="adj" fmla="val 14286"/>
              </a:avLst>
            </a:prstGeom>
            <a:solidFill>
              <a:srgbClr val="558BBF"/>
            </a:solidFill>
            <a:ln w="15240">
              <a:solidFill>
                <a:srgbClr val="558BBF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Text 34"/>
            <p:cNvSpPr/>
            <p:nvPr/>
          </p:nvSpPr>
          <p:spPr>
            <a:xfrm>
              <a:off x="906258" y="3499735"/>
              <a:ext cx="913395" cy="16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ARRIVED</a:t>
              </a:r>
              <a:endParaRPr lang="en-US" sz="8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1902688" y="3466521"/>
              <a:ext cx="1245538" cy="232500"/>
            </a:xfrm>
            <a:prstGeom prst="roundRect">
              <a:avLst>
                <a:gd name="adj" fmla="val 14286"/>
              </a:avLst>
            </a:prstGeom>
            <a:solidFill>
              <a:srgbClr val="558BBF"/>
            </a:solidFill>
            <a:ln w="15240">
              <a:solidFill>
                <a:srgbClr val="558BBF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Text 36"/>
            <p:cNvSpPr/>
            <p:nvPr/>
          </p:nvSpPr>
          <p:spPr>
            <a:xfrm>
              <a:off x="1902688" y="3499735"/>
              <a:ext cx="1245538" cy="16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WAIT_AT_STREET</a:t>
              </a:r>
              <a:endParaRPr lang="en-US" sz="8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3231262" y="3466521"/>
              <a:ext cx="913395" cy="232500"/>
            </a:xfrm>
            <a:prstGeom prst="roundRect">
              <a:avLst>
                <a:gd name="adj" fmla="val 14286"/>
              </a:avLst>
            </a:prstGeom>
            <a:solidFill>
              <a:srgbClr val="558BBF"/>
            </a:solidFill>
            <a:ln w="15240">
              <a:solidFill>
                <a:srgbClr val="558BBF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Text 38"/>
            <p:cNvSpPr/>
            <p:nvPr/>
          </p:nvSpPr>
          <p:spPr>
            <a:xfrm>
              <a:off x="3231262" y="3499735"/>
              <a:ext cx="913395" cy="16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LINE_LOST</a:t>
              </a:r>
              <a:endParaRPr lang="en-US" sz="800" dirty="0"/>
            </a:p>
          </p:txBody>
        </p:sp>
      </p:grpSp>
      <p:sp>
        <p:nvSpPr>
          <p:cNvPr id="41" name="Shape 39"/>
          <p:cNvSpPr/>
          <p:nvPr/>
        </p:nvSpPr>
        <p:spPr>
          <a:xfrm>
            <a:off x="823222" y="4064379"/>
            <a:ext cx="1893218" cy="1179110"/>
          </a:xfrm>
          <a:prstGeom prst="roundRect">
            <a:avLst>
              <a:gd name="adj" fmla="val 3521"/>
            </a:avLst>
          </a:prstGeom>
          <a:solidFill>
            <a:srgbClr val="EBF3FB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/>
          <p:nvPr/>
        </p:nvSpPr>
        <p:spPr>
          <a:xfrm>
            <a:off x="823222" y="4114201"/>
            <a:ext cx="1893218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Antrieb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06258" y="4330094"/>
            <a:ext cx="1727146" cy="31553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524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906258" y="4379916"/>
            <a:ext cx="1727146" cy="215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L298N H-Brücken-Treiber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06258" y="4712059"/>
            <a:ext cx="1727146" cy="31553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524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4"/>
          <p:cNvSpPr/>
          <p:nvPr/>
        </p:nvSpPr>
        <p:spPr>
          <a:xfrm>
            <a:off x="906258" y="4745273"/>
            <a:ext cx="1727146" cy="16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 DC-Motor (PWM)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906258" y="4911345"/>
            <a:ext cx="1727146" cy="13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Raupenfahrwerk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882512" y="4064379"/>
            <a:ext cx="1893218" cy="1179110"/>
          </a:xfrm>
          <a:prstGeom prst="roundRect">
            <a:avLst>
              <a:gd name="adj" fmla="val 3521"/>
            </a:avLst>
          </a:prstGeom>
          <a:solidFill>
            <a:srgbClr val="EBF3FB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2882512" y="4114201"/>
            <a:ext cx="1893218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Regelung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965547" y="4330094"/>
            <a:ext cx="1727146" cy="31553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524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/>
          <p:nvPr/>
        </p:nvSpPr>
        <p:spPr>
          <a:xfrm>
            <a:off x="2965547" y="4379916"/>
            <a:ext cx="1727146" cy="215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PDController (kp, kd)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965547" y="4712059"/>
            <a:ext cx="1727146" cy="31553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524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Text 51"/>
          <p:cNvSpPr/>
          <p:nvPr/>
        </p:nvSpPr>
        <p:spPr>
          <a:xfrm>
            <a:off x="2965547" y="4745273"/>
            <a:ext cx="1727146" cy="16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Gewichtete Positionsberechnung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965547" y="4911345"/>
            <a:ext cx="1727146" cy="13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Lenkkorrektur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823222" y="5376346"/>
            <a:ext cx="3944204" cy="514822"/>
          </a:xfrm>
          <a:prstGeom prst="roundRect">
            <a:avLst>
              <a:gd name="adj" fmla="val 8065"/>
            </a:avLst>
          </a:prstGeom>
          <a:solidFill>
            <a:srgbClr val="FFF3CD"/>
          </a:solidFill>
          <a:ln w="1524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" name="Text 54"/>
          <p:cNvSpPr/>
          <p:nvPr/>
        </p:nvSpPr>
        <p:spPr>
          <a:xfrm>
            <a:off x="823222" y="5426168"/>
            <a:ext cx="3944204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WiFi-Modul (integriert im Pico 2 W)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23222" y="5608847"/>
            <a:ext cx="3944204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Hard-Offline während Fahrt  ·  Reconnect nach Ankunft  ·  TCP-Socket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300020" y="560265"/>
            <a:ext cx="4193312" cy="5563404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524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9" name="Shape 57"/>
          <p:cNvSpPr/>
          <p:nvPr/>
        </p:nvSpPr>
        <p:spPr>
          <a:xfrm>
            <a:off x="7300020" y="560265"/>
            <a:ext cx="4193312" cy="431787"/>
          </a:xfrm>
          <a:prstGeom prst="roundRect">
            <a:avLst>
              <a:gd name="adj" fmla="val 15385"/>
            </a:avLst>
          </a:prstGeom>
          <a:solidFill>
            <a:srgbClr val="70AD47"/>
          </a:solidFill>
          <a:ln w="1524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0" name="Shape 58"/>
          <p:cNvSpPr/>
          <p:nvPr/>
        </p:nvSpPr>
        <p:spPr>
          <a:xfrm>
            <a:off x="7300020" y="850891"/>
            <a:ext cx="4193312" cy="141161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" name="Text 59"/>
          <p:cNvSpPr/>
          <p:nvPr/>
        </p:nvSpPr>
        <p:spPr>
          <a:xfrm>
            <a:off x="7300020" y="593479"/>
            <a:ext cx="4193312" cy="23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– macOS (MacBook)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7300020" y="825980"/>
            <a:ext cx="4193312" cy="149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(Python 3 · Threaded TCP-Server · MissionControl)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424574" y="1075087"/>
            <a:ext cx="3944204" cy="1096074"/>
          </a:xfrm>
          <a:prstGeom prst="roundRect">
            <a:avLst>
              <a:gd name="adj" fmla="val 3788"/>
            </a:avLst>
          </a:prstGeom>
          <a:solidFill>
            <a:srgbClr val="EBF7E4"/>
          </a:solidFill>
          <a:ln w="1524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4" name="Text 62"/>
          <p:cNvSpPr/>
          <p:nvPr/>
        </p:nvSpPr>
        <p:spPr>
          <a:xfrm>
            <a:off x="7424574" y="1124909"/>
            <a:ext cx="3944204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mac_server.py – Threaded TCP-Server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507610" y="1340802"/>
            <a:ext cx="1801879" cy="290626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C6EF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6" name="Text 64"/>
          <p:cNvSpPr/>
          <p:nvPr/>
        </p:nvSpPr>
        <p:spPr>
          <a:xfrm>
            <a:off x="7507610" y="1407231"/>
            <a:ext cx="1801879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Verbindungsannahme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9483864" y="1340802"/>
            <a:ext cx="1801879" cy="290626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C6EF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8" name="Text 66"/>
          <p:cNvSpPr/>
          <p:nvPr/>
        </p:nvSpPr>
        <p:spPr>
          <a:xfrm>
            <a:off x="9483864" y="1407231"/>
            <a:ext cx="1801879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Thread-Verwaltung (Client)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507610" y="1689553"/>
            <a:ext cx="1801879" cy="290626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C6EF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0" name="Text 68"/>
          <p:cNvSpPr/>
          <p:nvPr/>
        </p:nvSpPr>
        <p:spPr>
          <a:xfrm>
            <a:off x="7507610" y="1755982"/>
            <a:ext cx="1801879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Inactivity-Timeout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9483864" y="1689553"/>
            <a:ext cx="1801879" cy="290626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C6EF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2" name="Text 70"/>
          <p:cNvSpPr/>
          <p:nvPr/>
        </p:nvSpPr>
        <p:spPr>
          <a:xfrm>
            <a:off x="9483864" y="1755982"/>
            <a:ext cx="1801879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/ Konsole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424574" y="2287411"/>
            <a:ext cx="3944204" cy="1453128"/>
          </a:xfrm>
          <a:prstGeom prst="roundRect">
            <a:avLst>
              <a:gd name="adj" fmla="val 2857"/>
            </a:avLst>
          </a:prstGeom>
          <a:solidFill>
            <a:srgbClr val="D9EAD3"/>
          </a:solidFill>
          <a:ln w="1524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4" name="Text 72"/>
          <p:cNvSpPr/>
          <p:nvPr/>
        </p:nvSpPr>
        <p:spPr>
          <a:xfrm>
            <a:off x="7424574" y="2337233"/>
            <a:ext cx="3944204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MissionControl – Missionslogik</a:t>
            </a:r>
            <a:endParaRPr lang="en-US" sz="1100" dirty="0"/>
          </a:p>
        </p:txBody>
      </p: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BD472D5B-F822-CB6A-E96E-BC0627C8E7C3}"/>
              </a:ext>
            </a:extLst>
          </p:cNvPr>
          <p:cNvGrpSpPr/>
          <p:nvPr/>
        </p:nvGrpSpPr>
        <p:grpSpPr>
          <a:xfrm>
            <a:off x="7715200" y="2553126"/>
            <a:ext cx="3362953" cy="531429"/>
            <a:chOff x="7507610" y="2553126"/>
            <a:chExt cx="3362953" cy="531429"/>
          </a:xfrm>
        </p:grpSpPr>
        <p:sp>
          <p:nvSpPr>
            <p:cNvPr id="75" name="Shape 73"/>
            <p:cNvSpPr/>
            <p:nvPr/>
          </p:nvSpPr>
          <p:spPr>
            <a:xfrm>
              <a:off x="7507610" y="2553126"/>
              <a:ext cx="1660718" cy="232500"/>
            </a:xfrm>
            <a:prstGeom prst="roundRect">
              <a:avLst>
                <a:gd name="adj" fmla="val 14286"/>
              </a:avLst>
            </a:prstGeom>
            <a:solidFill>
              <a:srgbClr val="70AD47"/>
            </a:solidFill>
            <a:ln w="15240">
              <a:solidFill>
                <a:srgbClr val="70AD47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6" name="Text 74"/>
            <p:cNvSpPr/>
            <p:nvPr/>
          </p:nvSpPr>
          <p:spPr>
            <a:xfrm>
              <a:off x="7507610" y="2586340"/>
              <a:ext cx="1660718" cy="16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STATUS_MONITORING</a:t>
              </a:r>
              <a:endParaRPr lang="en-US" sz="800" dirty="0"/>
            </a:p>
          </p:txBody>
        </p:sp>
        <p:sp>
          <p:nvSpPr>
            <p:cNvPr id="77" name="Shape 75"/>
            <p:cNvSpPr/>
            <p:nvPr/>
          </p:nvSpPr>
          <p:spPr>
            <a:xfrm>
              <a:off x="9251363" y="2553126"/>
              <a:ext cx="1619200" cy="232500"/>
            </a:xfrm>
            <a:prstGeom prst="roundRect">
              <a:avLst>
                <a:gd name="adj" fmla="val 14286"/>
              </a:avLst>
            </a:prstGeom>
            <a:solidFill>
              <a:srgbClr val="70AD47"/>
            </a:solidFill>
            <a:ln w="15240">
              <a:solidFill>
                <a:srgbClr val="70AD47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8" name="Text 76"/>
            <p:cNvSpPr/>
            <p:nvPr/>
          </p:nvSpPr>
          <p:spPr>
            <a:xfrm>
              <a:off x="9251363" y="2586340"/>
              <a:ext cx="1619200" cy="16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STATUS_PLANNING</a:t>
              </a:r>
              <a:endParaRPr lang="en-US" sz="800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7507610" y="2852055"/>
              <a:ext cx="1660718" cy="232500"/>
            </a:xfrm>
            <a:prstGeom prst="roundRect">
              <a:avLst>
                <a:gd name="adj" fmla="val 14286"/>
              </a:avLst>
            </a:prstGeom>
            <a:solidFill>
              <a:srgbClr val="548235"/>
            </a:solidFill>
            <a:ln w="15240">
              <a:solidFill>
                <a:srgbClr val="548235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0" name="Text 78"/>
            <p:cNvSpPr/>
            <p:nvPr/>
          </p:nvSpPr>
          <p:spPr>
            <a:xfrm>
              <a:off x="7507610" y="2885270"/>
              <a:ext cx="1660718" cy="16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STATUS_ON_MISSION</a:t>
              </a:r>
              <a:endParaRPr lang="en-US" sz="800" dirty="0"/>
            </a:p>
          </p:txBody>
        </p:sp>
        <p:sp>
          <p:nvSpPr>
            <p:cNvPr id="81" name="Shape 79"/>
            <p:cNvSpPr/>
            <p:nvPr/>
          </p:nvSpPr>
          <p:spPr>
            <a:xfrm>
              <a:off x="9251363" y="2852055"/>
              <a:ext cx="1619200" cy="232500"/>
            </a:xfrm>
            <a:prstGeom prst="roundRect">
              <a:avLst>
                <a:gd name="adj" fmla="val 14286"/>
              </a:avLst>
            </a:prstGeom>
            <a:solidFill>
              <a:srgbClr val="548235"/>
            </a:solidFill>
            <a:ln w="15240">
              <a:solidFill>
                <a:srgbClr val="548235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2" name="Text 80"/>
            <p:cNvSpPr/>
            <p:nvPr/>
          </p:nvSpPr>
          <p:spPr>
            <a:xfrm>
              <a:off x="9251363" y="2885270"/>
              <a:ext cx="1619200" cy="16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STATUS_WAIT_EMPTYING</a:t>
              </a:r>
              <a:endParaRPr lang="en-US" sz="800" dirty="0"/>
            </a:p>
          </p:txBody>
        </p:sp>
      </p:grpSp>
      <p:sp>
        <p:nvSpPr>
          <p:cNvPr id="83" name="Shape 81"/>
          <p:cNvSpPr/>
          <p:nvPr/>
        </p:nvSpPr>
        <p:spPr>
          <a:xfrm>
            <a:off x="7507610" y="3167592"/>
            <a:ext cx="3778132" cy="456697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240">
            <a:solidFill>
              <a:srgbClr val="C6EF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4" name="Text 82"/>
          <p:cNvSpPr/>
          <p:nvPr/>
        </p:nvSpPr>
        <p:spPr>
          <a:xfrm>
            <a:off x="7507610" y="3242324"/>
            <a:ext cx="3778132" cy="31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Einsatzplanung  ·  Reconnect-Optimierung  ·  Timeout-Logik  ·  ACK-Verwaltung  ·  Self-Healing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7424574" y="3856789"/>
            <a:ext cx="3944204" cy="896788"/>
          </a:xfrm>
          <a:prstGeom prst="roundRect">
            <a:avLst>
              <a:gd name="adj" fmla="val 4630"/>
            </a:avLst>
          </a:prstGeom>
          <a:solidFill>
            <a:srgbClr val="EBF7E4"/>
          </a:solidFill>
          <a:ln w="1524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6" name="Text 84"/>
          <p:cNvSpPr/>
          <p:nvPr/>
        </p:nvSpPr>
        <p:spPr>
          <a:xfrm>
            <a:off x="7424574" y="3906611"/>
            <a:ext cx="3944204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Datenverarbeitung &amp; Auswertung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507610" y="4122504"/>
            <a:ext cx="1801879" cy="265715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240">
            <a:solidFill>
              <a:srgbClr val="C6EF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8" name="Text 86"/>
          <p:cNvSpPr/>
          <p:nvPr/>
        </p:nvSpPr>
        <p:spPr>
          <a:xfrm>
            <a:off x="7507610" y="4172326"/>
            <a:ext cx="1801879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Füllstandsauswertung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9483864" y="4122504"/>
            <a:ext cx="1801879" cy="265715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240">
            <a:solidFill>
              <a:srgbClr val="C6EF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0" name="Text 88"/>
          <p:cNvSpPr/>
          <p:nvPr/>
        </p:nvSpPr>
        <p:spPr>
          <a:xfrm>
            <a:off x="9483864" y="4172326"/>
            <a:ext cx="1801879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Statusprotokollierung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7507610" y="4454648"/>
            <a:ext cx="3778132" cy="20759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6EF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2" name="Text 90"/>
          <p:cNvSpPr/>
          <p:nvPr/>
        </p:nvSpPr>
        <p:spPr>
          <a:xfrm>
            <a:off x="7507610" y="4479559"/>
            <a:ext cx="3778132" cy="16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Zukünftig: Müllkalender-Integration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7424574" y="4878131"/>
            <a:ext cx="3944204" cy="514822"/>
          </a:xfrm>
          <a:prstGeom prst="roundRect">
            <a:avLst>
              <a:gd name="adj" fmla="val 8065"/>
            </a:avLst>
          </a:prstGeom>
          <a:solidFill>
            <a:srgbClr val="FFF3CD"/>
          </a:solidFill>
          <a:ln w="1524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4" name="Text 92"/>
          <p:cNvSpPr/>
          <p:nvPr/>
        </p:nvSpPr>
        <p:spPr>
          <a:xfrm>
            <a:off x="7424574" y="4927952"/>
            <a:ext cx="3944204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WLAN-Interface (macOS)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7424574" y="5110631"/>
            <a:ext cx="3944204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TCP-Port  ·  Mehrere simultane Verbindungen  ·  Heartbeat-Überwachung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5182605" y="2262501"/>
            <a:ext cx="1826789" cy="3088935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7" name="Shape 95"/>
          <p:cNvSpPr/>
          <p:nvPr/>
        </p:nvSpPr>
        <p:spPr>
          <a:xfrm>
            <a:off x="5182605" y="2262501"/>
            <a:ext cx="1826789" cy="348751"/>
          </a:xfrm>
          <a:prstGeom prst="roundRect">
            <a:avLst>
              <a:gd name="adj" fmla="val 19048"/>
            </a:avLst>
          </a:prstGeom>
          <a:solidFill>
            <a:srgbClr val="ED7D31"/>
          </a:solidFill>
          <a:ln w="1524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8" name="Shape 96"/>
          <p:cNvSpPr/>
          <p:nvPr/>
        </p:nvSpPr>
        <p:spPr>
          <a:xfrm>
            <a:off x="5182605" y="2495001"/>
            <a:ext cx="1826789" cy="11625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9" name="Text 97"/>
          <p:cNvSpPr/>
          <p:nvPr/>
        </p:nvSpPr>
        <p:spPr>
          <a:xfrm>
            <a:off x="5182605" y="2295715"/>
            <a:ext cx="1826789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Kommunikation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5182605" y="2478394"/>
            <a:ext cx="1826789" cy="11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C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/ WLAN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5182605" y="2661073"/>
            <a:ext cx="1826789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→ Server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5265641" y="2876966"/>
            <a:ext cx="1660718" cy="415179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524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3" name="Text 101"/>
          <p:cNvSpPr/>
          <p:nvPr/>
        </p:nvSpPr>
        <p:spPr>
          <a:xfrm>
            <a:off x="5265641" y="2910180"/>
            <a:ext cx="1660718" cy="348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Heartbeat: STATUS: [state]</a:t>
            </a:r>
            <a:endParaRPr lang="en-US" sz="8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2 Sekunden (Standby)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5265641" y="3341967"/>
            <a:ext cx="1660718" cy="415179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524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5" name="Text 103"/>
          <p:cNvSpPr/>
          <p:nvPr/>
        </p:nvSpPr>
        <p:spPr>
          <a:xfrm>
            <a:off x="5265641" y="3375181"/>
            <a:ext cx="1660718" cy="348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Events: </a:t>
            </a:r>
            <a:b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Füllstand &gt; 95 %, Tastendruck, Statusmeldung</a:t>
            </a:r>
          </a:p>
        </p:txBody>
      </p:sp>
      <p:sp>
        <p:nvSpPr>
          <p:cNvPr id="106" name="Text 104"/>
          <p:cNvSpPr/>
          <p:nvPr/>
        </p:nvSpPr>
        <p:spPr>
          <a:xfrm>
            <a:off x="5182605" y="3815272"/>
            <a:ext cx="1826789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→ Client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5265641" y="4031165"/>
            <a:ext cx="1660718" cy="265715"/>
          </a:xfrm>
          <a:prstGeom prst="roundRect">
            <a:avLst>
              <a:gd name="adj" fmla="val 9375"/>
            </a:avLst>
          </a:prstGeom>
          <a:solidFill>
            <a:srgbClr val="FBE5D6"/>
          </a:solidFill>
          <a:ln w="1524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8" name="Text 106"/>
          <p:cNvSpPr/>
          <p:nvPr/>
        </p:nvSpPr>
        <p:spPr>
          <a:xfrm>
            <a:off x="5265641" y="4080986"/>
            <a:ext cx="1660718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CMD_GOTO_STREET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5265641" y="4363308"/>
            <a:ext cx="1660718" cy="265715"/>
          </a:xfrm>
          <a:prstGeom prst="roundRect">
            <a:avLst>
              <a:gd name="adj" fmla="val 9375"/>
            </a:avLst>
          </a:prstGeom>
          <a:solidFill>
            <a:srgbClr val="FBE5D6"/>
          </a:solidFill>
          <a:ln w="1524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0" name="Text 108"/>
          <p:cNvSpPr/>
          <p:nvPr/>
        </p:nvSpPr>
        <p:spPr>
          <a:xfrm>
            <a:off x="5265641" y="4413130"/>
            <a:ext cx="1660718" cy="18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CMD_RETURN_HOME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5265641" y="4736970"/>
            <a:ext cx="1660718" cy="498215"/>
          </a:xfrm>
          <a:prstGeom prst="roundRect">
            <a:avLst>
              <a:gd name="adj" fmla="val 5000"/>
            </a:avLst>
          </a:prstGeom>
          <a:solidFill>
            <a:srgbClr val="FCE4D6"/>
          </a:solidFill>
          <a:ln w="1524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2" name="Text 110"/>
          <p:cNvSpPr/>
          <p:nvPr/>
        </p:nvSpPr>
        <p:spPr>
          <a:xfrm>
            <a:off x="5265641" y="4786791"/>
            <a:ext cx="1660718" cy="415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43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ACK-Handshake</a:t>
            </a:r>
            <a:endParaRPr lang="en-US" sz="9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Client: ACK  →  Server: ACK_RECEIVED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4891980" y="3300449"/>
            <a:ext cx="290626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14" name="Shape 112"/>
          <p:cNvSpPr/>
          <p:nvPr/>
        </p:nvSpPr>
        <p:spPr>
          <a:xfrm>
            <a:off x="7009395" y="3300449"/>
            <a:ext cx="290626" cy="0"/>
          </a:xfrm>
          <a:prstGeom prst="line">
            <a:avLst/>
          </a:prstGeom>
          <a:noFill/>
          <a:ln w="25400">
            <a:solidFill>
              <a:srgbClr val="2C75B7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15" name="Shape 113"/>
          <p:cNvSpPr/>
          <p:nvPr/>
        </p:nvSpPr>
        <p:spPr>
          <a:xfrm>
            <a:off x="7009395" y="3591075"/>
            <a:ext cx="290626" cy="0"/>
          </a:xfrm>
          <a:prstGeom prst="line">
            <a:avLst/>
          </a:prstGeom>
          <a:noFill/>
          <a:ln w="25400">
            <a:solidFill>
              <a:srgbClr val="6FAD47"/>
            </a:solidFill>
            <a:prstDash val="solid"/>
            <a:head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16" name="Shape 114"/>
          <p:cNvSpPr/>
          <p:nvPr/>
        </p:nvSpPr>
        <p:spPr>
          <a:xfrm>
            <a:off x="4891980" y="3591075"/>
            <a:ext cx="290626" cy="0"/>
          </a:xfrm>
          <a:prstGeom prst="line">
            <a:avLst/>
          </a:prstGeom>
          <a:noFill/>
          <a:ln w="25400">
            <a:solidFill>
              <a:srgbClr val="6FAD47"/>
            </a:solidFill>
            <a:prstDash val="solid"/>
            <a:headEnd type="triangle"/>
          </a:ln>
        </p:spPr>
        <p:txBody>
          <a:bodyPr/>
          <a:lstStyle/>
          <a:p>
            <a:endParaRPr lang="de-DE"/>
          </a:p>
        </p:txBody>
      </p:sp>
      <p:grpSp>
        <p:nvGrpSpPr>
          <p:cNvPr id="138" name="Gruppieren 137">
            <a:extLst>
              <a:ext uri="{FF2B5EF4-FFF2-40B4-BE49-F238E27FC236}">
                <a16:creationId xmlns:a16="http://schemas.microsoft.com/office/drawing/2014/main" id="{F90874B4-91B7-BA1E-BC44-255DB51D0B36}"/>
              </a:ext>
            </a:extLst>
          </p:cNvPr>
          <p:cNvGrpSpPr/>
          <p:nvPr/>
        </p:nvGrpSpPr>
        <p:grpSpPr>
          <a:xfrm>
            <a:off x="692702" y="6311796"/>
            <a:ext cx="10806309" cy="292608"/>
            <a:chOff x="692702" y="6391308"/>
            <a:chExt cx="10806309" cy="292608"/>
          </a:xfrm>
        </p:grpSpPr>
        <p:sp>
          <p:nvSpPr>
            <p:cNvPr id="117" name="Shape 115"/>
            <p:cNvSpPr/>
            <p:nvPr/>
          </p:nvSpPr>
          <p:spPr>
            <a:xfrm>
              <a:off x="692702" y="6391308"/>
              <a:ext cx="10806309" cy="292608"/>
            </a:xfrm>
            <a:prstGeom prst="roundRect">
              <a:avLst/>
            </a:prstGeom>
            <a:solidFill>
              <a:srgbClr val="F0F0F0"/>
            </a:solidFill>
            <a:ln w="12700">
              <a:solidFill>
                <a:srgbClr val="CCCCCC"/>
              </a:solidFill>
              <a:prstDash val="solid"/>
            </a:ln>
          </p:spPr>
          <p:txBody>
            <a:bodyPr anchor="ctr"/>
            <a:lstStyle/>
            <a:p>
              <a:endParaRPr lang="de-DE"/>
            </a:p>
          </p:txBody>
        </p:sp>
        <p:grpSp>
          <p:nvGrpSpPr>
            <p:cNvPr id="134" name="Gruppieren 133">
              <a:extLst>
                <a:ext uri="{FF2B5EF4-FFF2-40B4-BE49-F238E27FC236}">
                  <a16:creationId xmlns:a16="http://schemas.microsoft.com/office/drawing/2014/main" id="{30379419-9A00-5F46-1A12-A8C103CB09D3}"/>
                </a:ext>
              </a:extLst>
            </p:cNvPr>
            <p:cNvGrpSpPr/>
            <p:nvPr/>
          </p:nvGrpSpPr>
          <p:grpSpPr>
            <a:xfrm>
              <a:off x="964082" y="6437028"/>
              <a:ext cx="10263548" cy="201168"/>
              <a:chOff x="846253" y="6437028"/>
              <a:chExt cx="10263548" cy="201168"/>
            </a:xfrm>
          </p:grpSpPr>
          <p:grpSp>
            <p:nvGrpSpPr>
              <p:cNvPr id="129" name="Gruppieren 128">
                <a:extLst>
                  <a:ext uri="{FF2B5EF4-FFF2-40B4-BE49-F238E27FC236}">
                    <a16:creationId xmlns:a16="http://schemas.microsoft.com/office/drawing/2014/main" id="{9366F34A-B656-A8BF-A57A-10D19236D282}"/>
                  </a:ext>
                </a:extLst>
              </p:cNvPr>
              <p:cNvGrpSpPr/>
              <p:nvPr/>
            </p:nvGrpSpPr>
            <p:grpSpPr>
              <a:xfrm>
                <a:off x="846253" y="6437028"/>
                <a:ext cx="880593" cy="201168"/>
                <a:chOff x="320040" y="6574536"/>
                <a:chExt cx="880593" cy="201168"/>
              </a:xfrm>
            </p:grpSpPr>
            <p:sp>
              <p:nvSpPr>
                <p:cNvPr id="118" name="Shape 116"/>
                <p:cNvSpPr/>
                <p:nvPr/>
              </p:nvSpPr>
              <p:spPr>
                <a:xfrm>
                  <a:off x="320040" y="6592824"/>
                  <a:ext cx="164592" cy="164592"/>
                </a:xfrm>
                <a:prstGeom prst="roundRect">
                  <a:avLst>
                    <a:gd name="adj" fmla="val 11111"/>
                  </a:avLst>
                </a:prstGeom>
                <a:solidFill>
                  <a:srgbClr val="2E75B6"/>
                </a:solidFill>
                <a:ln w="15240">
                  <a:solidFill>
                    <a:srgbClr val="2E75B6"/>
                  </a:solidFill>
                  <a:prstDash val="solid"/>
                </a:ln>
              </p:spPr>
              <p:txBody>
                <a:bodyPr anchor="ctr"/>
                <a:lstStyle/>
                <a:p>
                  <a:endParaRPr lang="de-DE"/>
                </a:p>
              </p:txBody>
            </p:sp>
            <p:sp>
              <p:nvSpPr>
                <p:cNvPr id="119" name="Text 117"/>
                <p:cNvSpPr/>
                <p:nvPr/>
              </p:nvSpPr>
              <p:spPr>
                <a:xfrm>
                  <a:off x="539496" y="6574536"/>
                  <a:ext cx="661137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800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Client-Daten</a:t>
                  </a:r>
                  <a:endParaRPr lang="en-US" sz="800" dirty="0"/>
                </a:p>
              </p:txBody>
            </p:sp>
          </p:grpSp>
          <p:grpSp>
            <p:nvGrpSpPr>
              <p:cNvPr id="130" name="Gruppieren 129">
                <a:extLst>
                  <a:ext uri="{FF2B5EF4-FFF2-40B4-BE49-F238E27FC236}">
                    <a16:creationId xmlns:a16="http://schemas.microsoft.com/office/drawing/2014/main" id="{F5B98272-5C39-B300-9068-E1A712730DFA}"/>
                  </a:ext>
                </a:extLst>
              </p:cNvPr>
              <p:cNvGrpSpPr/>
              <p:nvPr/>
            </p:nvGrpSpPr>
            <p:grpSpPr>
              <a:xfrm>
                <a:off x="2744774" y="6437028"/>
                <a:ext cx="863856" cy="201168"/>
                <a:chOff x="2423160" y="6574536"/>
                <a:chExt cx="863856" cy="201168"/>
              </a:xfrm>
            </p:grpSpPr>
            <p:sp>
              <p:nvSpPr>
                <p:cNvPr id="120" name="Shape 118"/>
                <p:cNvSpPr/>
                <p:nvPr/>
              </p:nvSpPr>
              <p:spPr>
                <a:xfrm>
                  <a:off x="2423160" y="6592824"/>
                  <a:ext cx="164592" cy="164592"/>
                </a:xfrm>
                <a:prstGeom prst="roundRect">
                  <a:avLst>
                    <a:gd name="adj" fmla="val 11111"/>
                  </a:avLst>
                </a:prstGeom>
                <a:solidFill>
                  <a:srgbClr val="70AD47"/>
                </a:solidFill>
                <a:ln w="15240">
                  <a:solidFill>
                    <a:srgbClr val="70AD47"/>
                  </a:solidFill>
                  <a:prstDash val="solid"/>
                </a:ln>
              </p:spPr>
              <p:txBody>
                <a:bodyPr anchor="ctr"/>
                <a:lstStyle/>
                <a:p>
                  <a:endParaRPr lang="de-DE"/>
                </a:p>
              </p:txBody>
            </p:sp>
            <p:sp>
              <p:nvSpPr>
                <p:cNvPr id="121" name="Text 119"/>
                <p:cNvSpPr/>
                <p:nvPr/>
              </p:nvSpPr>
              <p:spPr>
                <a:xfrm>
                  <a:off x="2642616" y="6574536"/>
                  <a:ext cx="644400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800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Server-Daten</a:t>
                  </a:r>
                  <a:endParaRPr lang="en-US" sz="800" dirty="0"/>
                </a:p>
              </p:txBody>
            </p:sp>
          </p:grpSp>
          <p:grpSp>
            <p:nvGrpSpPr>
              <p:cNvPr id="131" name="Gruppieren 130">
                <a:extLst>
                  <a:ext uri="{FF2B5EF4-FFF2-40B4-BE49-F238E27FC236}">
                    <a16:creationId xmlns:a16="http://schemas.microsoft.com/office/drawing/2014/main" id="{585036D6-9E92-3D40-D241-580B70189C7D}"/>
                  </a:ext>
                </a:extLst>
              </p:cNvPr>
              <p:cNvGrpSpPr/>
              <p:nvPr/>
            </p:nvGrpSpPr>
            <p:grpSpPr>
              <a:xfrm>
                <a:off x="4626558" y="6437028"/>
                <a:ext cx="1589471" cy="201168"/>
                <a:chOff x="4526280" y="6574536"/>
                <a:chExt cx="1589471" cy="201168"/>
              </a:xfrm>
            </p:grpSpPr>
            <p:sp>
              <p:nvSpPr>
                <p:cNvPr id="122" name="Shape 120"/>
                <p:cNvSpPr/>
                <p:nvPr/>
              </p:nvSpPr>
              <p:spPr>
                <a:xfrm>
                  <a:off x="4526280" y="6592824"/>
                  <a:ext cx="164592" cy="164592"/>
                </a:xfrm>
                <a:prstGeom prst="roundRect">
                  <a:avLst>
                    <a:gd name="adj" fmla="val 11111"/>
                  </a:avLst>
                </a:prstGeom>
                <a:solidFill>
                  <a:srgbClr val="ED7D31"/>
                </a:solidFill>
                <a:ln w="15240">
                  <a:solidFill>
                    <a:srgbClr val="ED7D31"/>
                  </a:solidFill>
                  <a:prstDash val="solid"/>
                </a:ln>
              </p:spPr>
              <p:txBody>
                <a:bodyPr anchor="ctr"/>
                <a:lstStyle/>
                <a:p>
                  <a:endParaRPr lang="de-DE"/>
                </a:p>
              </p:txBody>
            </p:sp>
            <p:sp>
              <p:nvSpPr>
                <p:cNvPr id="123" name="Text 121"/>
                <p:cNvSpPr/>
                <p:nvPr/>
              </p:nvSpPr>
              <p:spPr>
                <a:xfrm>
                  <a:off x="4745736" y="6574536"/>
                  <a:ext cx="1370015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800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Kommunikation (bidirektional)</a:t>
                  </a:r>
                  <a:endParaRPr lang="en-US" sz="800" dirty="0"/>
                </a:p>
              </p:txBody>
            </p:sp>
          </p:grpSp>
          <p:grpSp>
            <p:nvGrpSpPr>
              <p:cNvPr id="132" name="Gruppieren 131">
                <a:extLst>
                  <a:ext uri="{FF2B5EF4-FFF2-40B4-BE49-F238E27FC236}">
                    <a16:creationId xmlns:a16="http://schemas.microsoft.com/office/drawing/2014/main" id="{627F023B-EC6E-334E-2896-DEC8037C3451}"/>
                  </a:ext>
                </a:extLst>
              </p:cNvPr>
              <p:cNvGrpSpPr/>
              <p:nvPr/>
            </p:nvGrpSpPr>
            <p:grpSpPr>
              <a:xfrm>
                <a:off x="7233957" y="6437028"/>
                <a:ext cx="1136243" cy="201168"/>
                <a:chOff x="6629400" y="6574536"/>
                <a:chExt cx="1136243" cy="201168"/>
              </a:xfrm>
            </p:grpSpPr>
            <p:sp>
              <p:nvSpPr>
                <p:cNvPr id="124" name="Shape 122"/>
                <p:cNvSpPr/>
                <p:nvPr/>
              </p:nvSpPr>
              <p:spPr>
                <a:xfrm>
                  <a:off x="6629400" y="6592824"/>
                  <a:ext cx="164592" cy="164592"/>
                </a:xfrm>
                <a:prstGeom prst="roundRect">
                  <a:avLst>
                    <a:gd name="adj" fmla="val 11111"/>
                  </a:avLst>
                </a:prstGeom>
                <a:solidFill>
                  <a:srgbClr val="F0A500"/>
                </a:solidFill>
                <a:ln w="15240">
                  <a:solidFill>
                    <a:srgbClr val="F0A500"/>
                  </a:solidFill>
                  <a:prstDash val="solid"/>
                </a:ln>
              </p:spPr>
              <p:txBody>
                <a:bodyPr anchor="ctr"/>
                <a:lstStyle/>
                <a:p>
                  <a:endParaRPr lang="de-DE"/>
                </a:p>
              </p:txBody>
            </p:sp>
            <p:sp>
              <p:nvSpPr>
                <p:cNvPr id="125" name="Text 123"/>
                <p:cNvSpPr/>
                <p:nvPr/>
              </p:nvSpPr>
              <p:spPr>
                <a:xfrm>
                  <a:off x="6848856" y="6574536"/>
                  <a:ext cx="916787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800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WLAN/WiFi-Schicht</a:t>
                  </a:r>
                  <a:endParaRPr lang="en-US" sz="800" dirty="0"/>
                </a:p>
              </p:txBody>
            </p:sp>
          </p:grpSp>
          <p:grpSp>
            <p:nvGrpSpPr>
              <p:cNvPr id="133" name="Gruppieren 132">
                <a:extLst>
                  <a:ext uri="{FF2B5EF4-FFF2-40B4-BE49-F238E27FC236}">
                    <a16:creationId xmlns:a16="http://schemas.microsoft.com/office/drawing/2014/main" id="{47BD8C95-85EA-67BD-388F-CCE0332AB9CF}"/>
                  </a:ext>
                </a:extLst>
              </p:cNvPr>
              <p:cNvGrpSpPr/>
              <p:nvPr/>
            </p:nvGrpSpPr>
            <p:grpSpPr>
              <a:xfrm>
                <a:off x="9388128" y="6437028"/>
                <a:ext cx="1721673" cy="201168"/>
                <a:chOff x="8732520" y="6574536"/>
                <a:chExt cx="1721673" cy="201168"/>
              </a:xfrm>
            </p:grpSpPr>
            <p:sp>
              <p:nvSpPr>
                <p:cNvPr id="126" name="Shape 124"/>
                <p:cNvSpPr/>
                <p:nvPr/>
              </p:nvSpPr>
              <p:spPr>
                <a:xfrm>
                  <a:off x="8732520" y="6592824"/>
                  <a:ext cx="164592" cy="164592"/>
                </a:xfrm>
                <a:prstGeom prst="roundRect">
                  <a:avLst>
                    <a:gd name="adj" fmla="val 11111"/>
                  </a:avLst>
                </a:prstGeom>
                <a:solidFill>
                  <a:srgbClr val="D9EAD3"/>
                </a:solidFill>
                <a:ln w="15240">
                  <a:solidFill>
                    <a:srgbClr val="70AD47"/>
                  </a:solidFill>
                  <a:prstDash val="solid"/>
                </a:ln>
              </p:spPr>
              <p:txBody>
                <a:bodyPr anchor="ctr"/>
                <a:lstStyle/>
                <a:p>
                  <a:endParaRPr lang="de-DE"/>
                </a:p>
              </p:txBody>
            </p:sp>
            <p:sp>
              <p:nvSpPr>
                <p:cNvPr id="127" name="Text 125"/>
                <p:cNvSpPr/>
                <p:nvPr/>
              </p:nvSpPr>
              <p:spPr>
                <a:xfrm>
                  <a:off x="8951976" y="6574536"/>
                  <a:ext cx="1502217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800" dirty="0">
                      <a:solidFill>
                        <a:srgbClr val="555555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Hard-Offline aktiv während Fahrt</a:t>
                  </a:r>
                  <a:endParaRPr lang="en-US" sz="800" dirty="0"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Microsoft Macintosh PowerPoint</Application>
  <PresentationFormat>Breitbild</PresentationFormat>
  <Paragraphs>66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Blockschaltbild Client-Server-Architektur</dc:title>
  <dc:subject>PptxGenJS Presentation</dc:subject>
  <dc:creator>PptxGenJS</dc:creator>
  <cp:lastModifiedBy>Daniel Tueben</cp:lastModifiedBy>
  <cp:revision>3</cp:revision>
  <dcterms:created xsi:type="dcterms:W3CDTF">2026-02-26T08:56:17Z</dcterms:created>
  <dcterms:modified xsi:type="dcterms:W3CDTF">2026-02-26T10:02:14Z</dcterms:modified>
</cp:coreProperties>
</file>